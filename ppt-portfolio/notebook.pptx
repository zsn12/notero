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9" Type="http://schemas.openxmlformats.org/officeDocument/2006/relationships/notesSlide" Target="../notesSlides/notesSlide5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3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title"/>
          <p:cNvSpPr txBox="1"/>
          <p:nvPr/>
        </p:nvSpPr>
        <p:spPr>
          <a:xfrm>
            <a:off x="1333500" y="2286000"/>
            <a:ext cx="952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600" b="1" spc="150" noProof="1">
                <a:solidFill>
                  <a:srgbClr val="F8FAFC"/>
                </a:solidFill>
                <a:latin typeface="Liter"/>
                <a:ea typeface="alimamashuheiti"/>
              </a:rPr>
              <a:t>NOT</a:t>
            </a:r>
            <a:r>
              <a:rPr lang="en-US" sz="3600" b="1" spc="150" noProof="1">
                <a:solidFill>
                  <a:srgbClr val="F8FAFC"/>
                </a:solidFill>
                <a:latin typeface="Liter"/>
                <a:ea typeface="alimamashuheiti"/>
              </a:rPr>
              <a:t>E</a:t>
            </a:r>
            <a:r>
              <a:rPr sz="3600" b="1" spc="150" noProof="1">
                <a:solidFill>
                  <a:srgbClr val="F8FAFC"/>
                </a:solidFill>
                <a:latin typeface="Liter"/>
                <a:ea typeface="alimamashuheiti"/>
              </a:rPr>
              <a:t>BOOK</a:t>
            </a:r>
            <a:endParaRPr sz="3600" b="1" spc="15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3" name="dsl:cover-subtitle|s=$subtitle"/>
          <p:cNvSpPr txBox="1"/>
          <p:nvPr/>
        </p:nvSpPr>
        <p:spPr>
          <a:xfrm>
            <a:off x="2286000" y="3143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650" noProof="1">
                <a:solidFill>
                  <a:srgbClr val="94A3B8"/>
                </a:solidFill>
                <a:latin typeface="Liter"/>
                <a:ea typeface="MiSans"/>
              </a:rPr>
              <a:t>AI 辅助课程笔记平台</a:t>
            </a:r>
            <a:endParaRPr sz="16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4" name="dsl:cover-desc"/>
          <p:cNvSpPr txBox="1"/>
          <p:nvPr/>
        </p:nvSpPr>
        <p:spPr>
          <a:xfrm>
            <a:off x="1809750" y="3714750"/>
            <a:ext cx="857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94A3B8"/>
                </a:solidFill>
                <a:latin typeface="Liter"/>
                <a:ea typeface="MiSans"/>
              </a:rPr>
              <a:t>全栈独立开发作品  |  实时语音转录 · PPT 课件对齐 · AI 知识图谱 · RAG 智能问答</a:t>
            </a:r>
            <a:endParaRPr sz="120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5" name="dsl:cover-line"/>
          <p:cNvCxnSpPr/>
          <p:nvPr/>
        </p:nvCxnSpPr>
        <p:spPr>
          <a:xfrm>
            <a:off x="5143500" y="4286250"/>
            <a:ext cx="1905000" cy="0"/>
          </a:xfrm>
          <a:prstGeom prst="straightConnector1">
            <a:avLst/>
          </a:prstGeom>
          <a:ln w="127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over-tag1"/>
          <p:cNvSpPr txBox="1"/>
          <p:nvPr/>
        </p:nvSpPr>
        <p:spPr>
          <a:xfrm>
            <a:off x="3238500" y="4476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59E0B"/>
                </a:solidFill>
                <a:latin typeface="Liter"/>
                <a:ea typeface="MiSans"/>
              </a:rPr>
              <a:t>React 18</a:t>
            </a:r>
            <a:endParaRPr sz="975" noProof="1">
              <a:solidFill>
                <a:srgbClr val="F59E0B"/>
              </a:solidFill>
              <a:latin typeface="Liter"/>
              <a:ea typeface="MiSans"/>
            </a:endParaRPr>
          </a:p>
        </p:txBody>
      </p:sp>
      <p:sp>
        <p:nvSpPr>
          <p:cNvPr id="7" name="dsl:cover-tag2"/>
          <p:cNvSpPr txBox="1"/>
          <p:nvPr/>
        </p:nvSpPr>
        <p:spPr>
          <a:xfrm>
            <a:off x="4572000" y="4476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10B981"/>
                </a:solidFill>
                <a:latin typeface="Liter"/>
                <a:ea typeface="MiSans"/>
              </a:rPr>
              <a:t>FastAPI</a:t>
            </a:r>
            <a:endParaRPr sz="975" noProof="1">
              <a:solidFill>
                <a:srgbClr val="10B981"/>
              </a:solidFill>
              <a:latin typeface="Liter"/>
              <a:ea typeface="MiSans"/>
            </a:endParaRPr>
          </a:p>
        </p:txBody>
      </p:sp>
      <p:sp>
        <p:nvSpPr>
          <p:cNvPr id="8" name="dsl:cover-tag3"/>
          <p:cNvSpPr txBox="1"/>
          <p:nvPr/>
        </p:nvSpPr>
        <p:spPr>
          <a:xfrm>
            <a:off x="5905500" y="4476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3B82F6"/>
                </a:solidFill>
                <a:latin typeface="Liter"/>
                <a:ea typeface="MiSans"/>
              </a:rPr>
              <a:t>DeepSeek</a:t>
            </a:r>
            <a:endParaRPr sz="975" noProof="1">
              <a:solidFill>
                <a:srgbClr val="3B82F6"/>
              </a:solidFill>
              <a:latin typeface="Liter"/>
              <a:ea typeface="MiSans"/>
            </a:endParaRPr>
          </a:p>
        </p:txBody>
      </p:sp>
      <p:sp>
        <p:nvSpPr>
          <p:cNvPr id="9" name="dsl:cover-tag4"/>
          <p:cNvSpPr txBox="1"/>
          <p:nvPr/>
        </p:nvSpPr>
        <p:spPr>
          <a:xfrm>
            <a:off x="7239000" y="4476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FunASR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label"/>
          <p:cNvSpPr txBox="1"/>
          <p:nvPr/>
        </p:nvSpPr>
        <p:spPr>
          <a:xfrm>
            <a:off x="571500" y="171450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150" spc="300" noProof="1">
                <a:solidFill>
                  <a:srgbClr val="94A3B8"/>
                </a:solidFill>
                <a:latin typeface="Liter"/>
                <a:ea typeface="alimamashuheiti"/>
              </a:rPr>
              <a:t>CONTENTS</a:t>
            </a:r>
            <a:endParaRPr sz="3150" spc="300" noProof="1">
              <a:solidFill>
                <a:srgbClr val="94A3B8"/>
              </a:solidFill>
              <a:latin typeface="Liter"/>
              <a:ea typeface="alimamashuheiti"/>
            </a:endParaRPr>
          </a:p>
        </p:txBody>
      </p:sp>
      <p:cxnSp>
        <p:nvCxnSpPr>
          <p:cNvPr id="3" name="dsl:toc-line"/>
          <p:cNvCxnSpPr/>
          <p:nvPr/>
        </p:nvCxnSpPr>
        <p:spPr>
          <a:xfrm>
            <a:off x="571500" y="2381250"/>
            <a:ext cx="762000" cy="0"/>
          </a:xfrm>
          <a:prstGeom prst="straightConnector1">
            <a:avLst/>
          </a:prstGeom>
          <a:ln w="381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toc-num1"/>
          <p:cNvSpPr txBox="1"/>
          <p:nvPr/>
        </p:nvSpPr>
        <p:spPr>
          <a:xfrm>
            <a:off x="4762500" y="1714500"/>
            <a:ext cx="571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59E0B"/>
                </a:solidFill>
                <a:latin typeface="Liter"/>
                <a:ea typeface="Liter"/>
              </a:rPr>
              <a:t>01</a:t>
            </a:r>
            <a:endParaRPr sz="24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5" name="dsl:toc-title1"/>
          <p:cNvSpPr txBox="1"/>
          <p:nvPr/>
        </p:nvSpPr>
        <p:spPr>
          <a:xfrm>
            <a:off x="5429250" y="1714500"/>
            <a:ext cx="381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Liter"/>
                <a:ea typeface="alimamashuheiti"/>
              </a:rPr>
              <a:t>项目概述</a:t>
            </a:r>
            <a:endParaRPr sz="165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6" name="dsl:toc-desc1"/>
          <p:cNvSpPr txBox="1"/>
          <p:nvPr/>
        </p:nvSpPr>
        <p:spPr>
          <a:xfrm>
            <a:off x="5429250" y="2190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背景痛点 · 核心功能总览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7" name="dsl:toc-line1"/>
          <p:cNvCxnSpPr/>
          <p:nvPr/>
        </p:nvCxnSpPr>
        <p:spPr>
          <a:xfrm>
            <a:off x="4762500" y="2619375"/>
            <a:ext cx="62865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toc-num2"/>
          <p:cNvSpPr txBox="1"/>
          <p:nvPr/>
        </p:nvSpPr>
        <p:spPr>
          <a:xfrm>
            <a:off x="4762500" y="2857500"/>
            <a:ext cx="571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59E0B"/>
                </a:solidFill>
                <a:latin typeface="Liter"/>
                <a:ea typeface="Liter"/>
              </a:rPr>
              <a:t>02</a:t>
            </a:r>
            <a:endParaRPr sz="24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9" name="dsl:toc-title2"/>
          <p:cNvSpPr txBox="1"/>
          <p:nvPr/>
        </p:nvSpPr>
        <p:spPr>
          <a:xfrm>
            <a:off x="5429250" y="2857500"/>
            <a:ext cx="381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Liter"/>
                <a:ea typeface="alimamashuheiti"/>
              </a:rPr>
              <a:t>技术架构</a:t>
            </a:r>
            <a:endParaRPr sz="165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0" name="dsl:toc-desc2"/>
          <p:cNvSpPr txBox="1"/>
          <p:nvPr/>
        </p:nvSpPr>
        <p:spPr>
          <a:xfrm>
            <a:off x="5429250" y="3333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前后端技术栈 · 系统架构与数据流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11" name="dsl:toc-line2"/>
          <p:cNvCxnSpPr/>
          <p:nvPr/>
        </p:nvCxnSpPr>
        <p:spPr>
          <a:xfrm>
            <a:off x="4762500" y="3762375"/>
            <a:ext cx="62865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toc-num3"/>
          <p:cNvSpPr txBox="1"/>
          <p:nvPr/>
        </p:nvSpPr>
        <p:spPr>
          <a:xfrm>
            <a:off x="4762500" y="4000500"/>
            <a:ext cx="571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59E0B"/>
                </a:solidFill>
                <a:latin typeface="Liter"/>
                <a:ea typeface="Liter"/>
              </a:rPr>
              <a:t>03</a:t>
            </a:r>
            <a:endParaRPr sz="24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13" name="dsl:toc-title3"/>
          <p:cNvSpPr txBox="1"/>
          <p:nvPr/>
        </p:nvSpPr>
        <p:spPr>
          <a:xfrm>
            <a:off x="5429250" y="4000500"/>
            <a:ext cx="381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Liter"/>
                <a:ea typeface="alimamashuheiti"/>
              </a:rPr>
              <a:t>核心功能实现</a:t>
            </a:r>
            <a:endParaRPr sz="165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4" name="dsl:toc-desc3"/>
          <p:cNvSpPr txBox="1"/>
          <p:nvPr/>
        </p:nvSpPr>
        <p:spPr>
          <a:xfrm>
            <a:off x="5429250" y="4476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语音转录 · PPT 对齐 · 知识图谱 · RAG 问答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15" name="dsl:toc-line3"/>
          <p:cNvCxnSpPr/>
          <p:nvPr/>
        </p:nvCxnSpPr>
        <p:spPr>
          <a:xfrm>
            <a:off x="4762500" y="4905375"/>
            <a:ext cx="62865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toc-num4"/>
          <p:cNvSpPr txBox="1"/>
          <p:nvPr/>
        </p:nvSpPr>
        <p:spPr>
          <a:xfrm>
            <a:off x="4762500" y="5143500"/>
            <a:ext cx="571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F59E0B"/>
                </a:solidFill>
                <a:latin typeface="Liter"/>
                <a:ea typeface="Liter"/>
              </a:rPr>
              <a:t>04</a:t>
            </a:r>
            <a:endParaRPr sz="24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17" name="dsl:toc-title4"/>
          <p:cNvSpPr txBox="1"/>
          <p:nvPr/>
        </p:nvSpPr>
        <p:spPr>
          <a:xfrm>
            <a:off x="5429250" y="5143500"/>
            <a:ext cx="3810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8FAFC"/>
                </a:solidFill>
                <a:latin typeface="Liter"/>
                <a:ea typeface="alimamashuheiti"/>
              </a:rPr>
              <a:t>技术亮点与总结</a:t>
            </a:r>
            <a:endParaRPr sz="165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8" name="dsl:toc-desc4"/>
          <p:cNvSpPr txBox="1"/>
          <p:nvPr/>
        </p:nvSpPr>
        <p:spPr>
          <a:xfrm>
            <a:off x="5429250" y="5619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工程实践 · 难点突破 · 个人贡献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9" name="dsl:toc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02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num"/>
          <p:cNvSpPr txBox="1"/>
          <p:nvPr/>
        </p:nvSpPr>
        <p:spPr>
          <a:xfrm>
            <a:off x="571500" y="2286000"/>
            <a:ext cx="190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4800" noProof="1">
                <a:solidFill>
                  <a:srgbClr val="F59E0B"/>
                </a:solidFill>
                <a:latin typeface="Liter"/>
                <a:ea typeface="Liter"/>
              </a:rPr>
              <a:t>01</a:t>
            </a:r>
            <a:endParaRPr sz="48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3" name="dsl:ch1-title"/>
          <p:cNvSpPr txBox="1"/>
          <p:nvPr/>
        </p:nvSpPr>
        <p:spPr>
          <a:xfrm>
            <a:off x="571500" y="3143250"/>
            <a:ext cx="571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8FAFC"/>
                </a:solidFill>
                <a:latin typeface="Liter"/>
                <a:ea typeface="alimamashuheiti"/>
              </a:rPr>
              <a:t>项目概述</a:t>
            </a:r>
            <a:endParaRPr sz="27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4" name="dsl:ch1-subtitle"/>
          <p:cNvSpPr txBox="1"/>
          <p:nvPr/>
        </p:nvSpPr>
        <p:spPr>
          <a:xfrm>
            <a:off x="571500" y="3810000"/>
            <a:ext cx="6667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94A3B8"/>
                </a:solidFill>
                <a:latin typeface="Liter"/>
                <a:ea typeface="MiSans"/>
              </a:rPr>
              <a:t>为课堂学习场景打造的 AI 一体化笔记解决方案</a:t>
            </a:r>
            <a:endParaRPr sz="13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5" name="dsl:ch1-line"/>
          <p:cNvCxnSpPr/>
          <p:nvPr/>
        </p:nvCxnSpPr>
        <p:spPr>
          <a:xfrm>
            <a:off x="571500" y="4286250"/>
            <a:ext cx="952500" cy="0"/>
          </a:xfrm>
          <a:prstGeom prst="straightConnector1">
            <a:avLst/>
          </a:prstGeom>
          <a:ln w="381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g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项目背景与核心痛点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bg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bg-card1"/>
          <p:cNvSpPr/>
          <p:nvPr/>
        </p:nvSpPr>
        <p:spPr>
          <a:xfrm>
            <a:off x="571500" y="1047750"/>
            <a:ext cx="5334000" cy="123825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bg-icon1|i=fas:circle-exclamation" descr="tmp7nanou5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9062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bg-card1-title"/>
          <p:cNvSpPr txBox="1"/>
          <p:nvPr/>
        </p:nvSpPr>
        <p:spPr>
          <a:xfrm>
            <a:off x="1123950" y="1162050"/>
            <a:ext cx="4572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F8FAFC"/>
                </a:solidFill>
                <a:latin typeface="Liter"/>
                <a:ea typeface="alimamashuheiti"/>
              </a:rPr>
              <a:t>笔记效率低</a:t>
            </a:r>
            <a:endParaRPr sz="1350" b="1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7" name="dsl:bg-card1-body"/>
          <p:cNvSpPr txBox="1"/>
          <p:nvPr/>
        </p:nvSpPr>
        <p:spPr>
          <a:xfrm>
            <a:off x="1123950" y="1476375"/>
            <a:ext cx="4572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课堂听讲时手动记笔记效率低，容易遗漏重点，且无法兼顾听讲与记录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8" name="dsl:bg-card2"/>
          <p:cNvSpPr/>
          <p:nvPr/>
        </p:nvSpPr>
        <p:spPr>
          <a:xfrm>
            <a:off x="6286500" y="1047750"/>
            <a:ext cx="5334000" cy="123825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bg-icon2|i=fas:file-powerpoint" descr="tmpmgtgloh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19062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bg-card2-title"/>
          <p:cNvSpPr txBox="1"/>
          <p:nvPr/>
        </p:nvSpPr>
        <p:spPr>
          <a:xfrm>
            <a:off x="6838950" y="1162050"/>
            <a:ext cx="4572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F8FAFC"/>
                </a:solidFill>
                <a:latin typeface="Liter"/>
                <a:ea typeface="alimamashuheiti"/>
              </a:rPr>
              <a:t>PPT 内容难定位</a:t>
            </a:r>
            <a:endParaRPr sz="1350" b="1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1" name="dsl:bg-card2-body"/>
          <p:cNvSpPr txBox="1"/>
          <p:nvPr/>
        </p:nvSpPr>
        <p:spPr>
          <a:xfrm>
            <a:off x="6838950" y="1476375"/>
            <a:ext cx="4572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课后复习时难以快速定位 PPT 对应内容，课件与笔记处于割裂状态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2" name="dsl:bg-card3"/>
          <p:cNvSpPr/>
          <p:nvPr/>
        </p:nvSpPr>
        <p:spPr>
          <a:xfrm>
            <a:off x="571500" y="2476500"/>
            <a:ext cx="5334000" cy="123825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bg-icon3|i=fas:sitemap" descr="tmpsyi5qrx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193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bg-card3-title"/>
          <p:cNvSpPr txBox="1"/>
          <p:nvPr/>
        </p:nvSpPr>
        <p:spPr>
          <a:xfrm>
            <a:off x="1123950" y="2590800"/>
            <a:ext cx="4572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F8FAFC"/>
                </a:solidFill>
                <a:latin typeface="Liter"/>
                <a:ea typeface="alimamashuheiti"/>
              </a:rPr>
              <a:t>知识缺乏结构化</a:t>
            </a:r>
            <a:endParaRPr sz="1350" b="1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5" name="dsl:bg-card3-body"/>
          <p:cNvSpPr txBox="1"/>
          <p:nvPr/>
        </p:nvSpPr>
        <p:spPr>
          <a:xfrm>
            <a:off x="1123950" y="2905125"/>
            <a:ext cx="4572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零散笔记缺乏结构化知识梳理，复习时难以建立知识体系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6" name="dsl:bg-card4"/>
          <p:cNvSpPr/>
          <p:nvPr/>
        </p:nvSpPr>
        <p:spPr>
          <a:xfrm>
            <a:off x="6286500" y="2476500"/>
            <a:ext cx="5334000" cy="123825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bg-icon4|i=fas:robot" descr="tmpagki3dg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6193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bg-card4-title"/>
          <p:cNvSpPr txBox="1"/>
          <p:nvPr/>
        </p:nvSpPr>
        <p:spPr>
          <a:xfrm>
            <a:off x="6838950" y="2590800"/>
            <a:ext cx="4572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F8FAFC"/>
                </a:solidFill>
                <a:latin typeface="Liter"/>
                <a:ea typeface="alimamashuheiti"/>
              </a:rPr>
              <a:t>AI 能力未融合</a:t>
            </a:r>
            <a:endParaRPr sz="1350" b="1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9" name="dsl:bg-card4-body"/>
          <p:cNvSpPr txBox="1"/>
          <p:nvPr/>
        </p:nvSpPr>
        <p:spPr>
          <a:xfrm>
            <a:off x="6838950" y="2905125"/>
            <a:ext cx="4572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传统笔记工具无法与 AI 能力深度结合，缺乏智能问答与测验功能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20" name="dsl:bg-solution-bar"/>
          <p:cNvCxnSpPr/>
          <p:nvPr/>
        </p:nvCxnSpPr>
        <p:spPr>
          <a:xfrm>
            <a:off x="571500" y="40005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bg-solution-label"/>
          <p:cNvSpPr txBox="1"/>
          <p:nvPr/>
        </p:nvSpPr>
        <p:spPr>
          <a:xfrm>
            <a:off x="571500" y="419100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59E0B"/>
                </a:solidFill>
                <a:latin typeface="Liter"/>
                <a:ea typeface="alimamashuheiti"/>
              </a:rPr>
              <a:t>解决方案</a:t>
            </a:r>
            <a:endParaRPr sz="105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22" name="dsl:bg-solution-text"/>
          <p:cNvSpPr txBox="1"/>
          <p:nvPr/>
        </p:nvSpPr>
        <p:spPr>
          <a:xfrm>
            <a:off x="571500" y="4572000"/>
            <a:ext cx="1104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b="1" noProof="1">
                <a:solidFill>
                  <a:srgbClr val="F8FAFC"/>
                </a:solidFill>
                <a:latin typeface="Liter"/>
                <a:ea typeface="MiSans"/>
              </a:rPr>
              <a:t>No</a:t>
            </a:r>
            <a:r>
              <a:rPr lang="en-US" sz="1350" b="1" noProof="1">
                <a:solidFill>
                  <a:srgbClr val="F8FAFC"/>
                </a:solidFill>
                <a:latin typeface="Liter"/>
                <a:ea typeface="MiSans"/>
              </a:rPr>
              <a:t>te</a:t>
            </a:r>
            <a:r>
              <a:rPr sz="1350" b="1" noProof="1">
                <a:solidFill>
                  <a:srgbClr val="F8FAFC"/>
                </a:solidFill>
                <a:latin typeface="Liter"/>
                <a:ea typeface="MiSans"/>
              </a:rPr>
              <a:t>book</a:t>
            </a:r>
            <a:r>
              <a:rPr sz="1350" noProof="1">
                <a:solidFill>
                  <a:srgbClr val="F8FAFC"/>
                </a:solidFill>
                <a:latin typeface="Liter"/>
                <a:ea typeface="MiSans"/>
              </a:rPr>
              <a:t> 定位：覆盖 </a:t>
            </a:r>
            <a:r>
              <a:rPr sz="1350" noProof="1">
                <a:solidFill>
                  <a:srgbClr val="F59E0B"/>
                </a:solidFill>
                <a:latin typeface="Liter"/>
                <a:ea typeface="MiSans"/>
              </a:rPr>
              <a:t>听课 → 转录 → 对齐 → 复习 → 测验</a:t>
            </a:r>
            <a:r>
              <a:rPr sz="1350" noProof="1">
                <a:solidFill>
                  <a:srgbClr val="F8FAFC"/>
                </a:solidFill>
                <a:latin typeface="Liter"/>
                <a:ea typeface="MiSans"/>
              </a:rPr>
              <a:t> 的完整学习闭环，将 AI 能力深度融入每个环节</a:t>
            </a:r>
            <a:endParaRPr sz="13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23" name="dsl:bg-flow-step1"/>
          <p:cNvSpPr/>
          <p:nvPr/>
        </p:nvSpPr>
        <p:spPr>
          <a:xfrm>
            <a:off x="571500" y="5524500"/>
            <a:ext cx="1714500" cy="4286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bg-flow-text1"/>
          <p:cNvSpPr txBox="1"/>
          <p:nvPr/>
        </p:nvSpPr>
        <p:spPr>
          <a:xfrm>
            <a:off x="571500" y="5524500"/>
            <a:ext cx="1714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A"/>
                </a:solidFill>
                <a:latin typeface="Liter"/>
                <a:ea typeface="MiSans"/>
              </a:rPr>
              <a:t>实时听课</a:t>
            </a:r>
            <a:endParaRPr sz="1050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25" name="dsl:bg-flow-arrow1"/>
          <p:cNvCxnSpPr/>
          <p:nvPr/>
        </p:nvCxnSpPr>
        <p:spPr>
          <a:xfrm>
            <a:off x="2381250" y="5715000"/>
            <a:ext cx="381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bg-flow-step2"/>
          <p:cNvSpPr/>
          <p:nvPr/>
        </p:nvSpPr>
        <p:spPr>
          <a:xfrm>
            <a:off x="2857500" y="5524500"/>
            <a:ext cx="1714500" cy="4286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bg-flow-text2"/>
          <p:cNvSpPr txBox="1"/>
          <p:nvPr/>
        </p:nvSpPr>
        <p:spPr>
          <a:xfrm>
            <a:off x="2857500" y="5524500"/>
            <a:ext cx="1714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A"/>
                </a:solidFill>
                <a:latin typeface="Liter"/>
                <a:ea typeface="MiSans"/>
              </a:rPr>
              <a:t>语音转录</a:t>
            </a:r>
            <a:endParaRPr sz="1050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28" name="dsl:bg-flow-arrow2"/>
          <p:cNvCxnSpPr/>
          <p:nvPr/>
        </p:nvCxnSpPr>
        <p:spPr>
          <a:xfrm>
            <a:off x="4667250" y="5715000"/>
            <a:ext cx="381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bg-flow-step3"/>
          <p:cNvSpPr/>
          <p:nvPr/>
        </p:nvSpPr>
        <p:spPr>
          <a:xfrm>
            <a:off x="5143500" y="5524500"/>
            <a:ext cx="1714500" cy="4286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bg-flow-text3"/>
          <p:cNvSpPr txBox="1"/>
          <p:nvPr/>
        </p:nvSpPr>
        <p:spPr>
          <a:xfrm>
            <a:off x="5143500" y="5524500"/>
            <a:ext cx="1714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A"/>
                </a:solidFill>
                <a:latin typeface="Liter"/>
                <a:ea typeface="MiSans"/>
              </a:rPr>
              <a:t>PPT 对齐</a:t>
            </a:r>
            <a:endParaRPr sz="1050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31" name="dsl:bg-flow-arrow3"/>
          <p:cNvCxnSpPr/>
          <p:nvPr/>
        </p:nvCxnSpPr>
        <p:spPr>
          <a:xfrm>
            <a:off x="6953250" y="5715000"/>
            <a:ext cx="381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bg-flow-step4"/>
          <p:cNvSpPr/>
          <p:nvPr/>
        </p:nvSpPr>
        <p:spPr>
          <a:xfrm>
            <a:off x="7429500" y="5524500"/>
            <a:ext cx="1714500" cy="4286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bg-flow-text4"/>
          <p:cNvSpPr txBox="1"/>
          <p:nvPr/>
        </p:nvSpPr>
        <p:spPr>
          <a:xfrm>
            <a:off x="7429500" y="5524500"/>
            <a:ext cx="1714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A"/>
                </a:solidFill>
                <a:latin typeface="Liter"/>
                <a:ea typeface="MiSans"/>
              </a:rPr>
              <a:t>AI 复习</a:t>
            </a:r>
            <a:endParaRPr sz="1050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34" name="dsl:bg-flow-arrow4"/>
          <p:cNvCxnSpPr/>
          <p:nvPr/>
        </p:nvCxnSpPr>
        <p:spPr>
          <a:xfrm>
            <a:off x="9239250" y="5715000"/>
            <a:ext cx="381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sl:bg-flow-step5"/>
          <p:cNvSpPr/>
          <p:nvPr/>
        </p:nvSpPr>
        <p:spPr>
          <a:xfrm>
            <a:off x="9715500" y="5524500"/>
            <a:ext cx="1714500" cy="4286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bg-flow-text5"/>
          <p:cNvSpPr txBox="1"/>
          <p:nvPr/>
        </p:nvSpPr>
        <p:spPr>
          <a:xfrm>
            <a:off x="9715500" y="5524500"/>
            <a:ext cx="1714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A"/>
                </a:solidFill>
                <a:latin typeface="Liter"/>
                <a:ea typeface="MiSans"/>
              </a:rPr>
              <a:t>智能测验</a:t>
            </a:r>
            <a:endParaRPr sz="1050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sp>
        <p:nvSpPr>
          <p:cNvPr id="37" name="dsl:bg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04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eat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核心功能总览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feat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feat-card1-bg"/>
          <p:cNvSpPr/>
          <p:nvPr>
            <p:custDataLst>
              <p:tags r:id="rId1"/>
            </p:custDataLst>
          </p:nvPr>
        </p:nvSpPr>
        <p:spPr>
          <a:xfrm>
            <a:off x="571500" y="1047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feat-card1-icon|i=fas:microphone" descr="tmp7nanou5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1238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feat-card1-title"/>
          <p:cNvSpPr txBox="1"/>
          <p:nvPr>
            <p:custDataLst>
              <p:tags r:id="rId4"/>
            </p:custDataLst>
          </p:nvPr>
        </p:nvSpPr>
        <p:spPr>
          <a:xfrm>
            <a:off x="1123950" y="1190625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实时语音转录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7" name="dsl:feat-card1-desc"/>
          <p:cNvSpPr txBox="1"/>
          <p:nvPr>
            <p:custDataLst>
              <p:tags r:id="rId5"/>
            </p:custDataLst>
          </p:nvPr>
        </p:nvSpPr>
        <p:spPr>
          <a:xfrm>
            <a:off x="1123950" y="1504950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FunASR 本地模型 + 云端降级，流式实时转录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8" name="dsl:feat-card2-bg"/>
          <p:cNvSpPr/>
          <p:nvPr>
            <p:custDataLst>
              <p:tags r:id="rId6"/>
            </p:custDataLst>
          </p:nvPr>
        </p:nvSpPr>
        <p:spPr>
          <a:xfrm>
            <a:off x="4333875" y="1047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feat-card2-icon|i=fas:file-powerpoint" descr="tmpmgtglohz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24375" y="1238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feat-card2-title"/>
          <p:cNvSpPr txBox="1"/>
          <p:nvPr>
            <p:custDataLst>
              <p:tags r:id="rId9"/>
            </p:custDataLst>
          </p:nvPr>
        </p:nvSpPr>
        <p:spPr>
          <a:xfrm>
            <a:off x="4886325" y="1190625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PPT 课件对齐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1" name="dsl:feat-card2-desc"/>
          <p:cNvSpPr txBox="1"/>
          <p:nvPr>
            <p:custDataLst>
              <p:tags r:id="rId10"/>
            </p:custDataLst>
          </p:nvPr>
        </p:nvSpPr>
        <p:spPr>
          <a:xfrm>
            <a:off x="4886325" y="1504950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上传课件自动提取，与转录文本时间轴对齐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2" name="dsl:feat-card3-bg"/>
          <p:cNvSpPr/>
          <p:nvPr>
            <p:custDataLst>
              <p:tags r:id="rId11"/>
            </p:custDataLst>
          </p:nvPr>
        </p:nvSpPr>
        <p:spPr>
          <a:xfrm>
            <a:off x="8096250" y="1047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feat-card3-icon|i=fas:brain" descr="tmpsyi5qrxc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286750" y="1238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feat-card3-title"/>
          <p:cNvSpPr txBox="1"/>
          <p:nvPr>
            <p:custDataLst>
              <p:tags r:id="rId14"/>
            </p:custDataLst>
          </p:nvPr>
        </p:nvSpPr>
        <p:spPr>
          <a:xfrm>
            <a:off x="8648700" y="1190625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AI 知识图谱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5" name="dsl:feat-card3-desc"/>
          <p:cNvSpPr txBox="1"/>
          <p:nvPr>
            <p:custDataLst>
              <p:tags r:id="rId15"/>
            </p:custDataLst>
          </p:nvPr>
        </p:nvSpPr>
        <p:spPr>
          <a:xfrm>
            <a:off x="8648700" y="1504950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DeepSeek 分析笔记，生成结构化知识导图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6" name="dsl:feat-card4-bg"/>
          <p:cNvSpPr/>
          <p:nvPr>
            <p:custDataLst>
              <p:tags r:id="rId16"/>
            </p:custDataLst>
          </p:nvPr>
        </p:nvSpPr>
        <p:spPr>
          <a:xfrm>
            <a:off x="571500" y="30765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feat-card4-icon|i=fas:magnifying-glass" descr="tmp7nanou5e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32670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feat-card4-title"/>
          <p:cNvSpPr txBox="1"/>
          <p:nvPr>
            <p:custDataLst>
              <p:tags r:id="rId18"/>
            </p:custDataLst>
          </p:nvPr>
        </p:nvSpPr>
        <p:spPr>
          <a:xfrm>
            <a:off x="1123950" y="3219450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RAG 智能问答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9" name="dsl:feat-card4-desc"/>
          <p:cNvSpPr txBox="1"/>
          <p:nvPr>
            <p:custDataLst>
              <p:tags r:id="rId19"/>
            </p:custDataLst>
          </p:nvPr>
        </p:nvSpPr>
        <p:spPr>
          <a:xfrm>
            <a:off x="1123950" y="3533775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本地向量检索 + DeepSeek 流式生成答案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20" name="dsl:feat-card5-bg"/>
          <p:cNvSpPr/>
          <p:nvPr>
            <p:custDataLst>
              <p:tags r:id="rId20"/>
            </p:custDataLst>
          </p:nvPr>
        </p:nvSpPr>
        <p:spPr>
          <a:xfrm>
            <a:off x="4333875" y="30765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feat-card5-icon|i=fas:clipboard-question" descr="tmpmgtglohz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24375" y="32670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feat-card5-title"/>
          <p:cNvSpPr txBox="1"/>
          <p:nvPr>
            <p:custDataLst>
              <p:tags r:id="rId22"/>
            </p:custDataLst>
          </p:nvPr>
        </p:nvSpPr>
        <p:spPr>
          <a:xfrm>
            <a:off x="4886325" y="3219450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AI 测验生成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23" name="dsl:feat-card5-desc"/>
          <p:cNvSpPr txBox="1"/>
          <p:nvPr>
            <p:custDataLst>
              <p:tags r:id="rId23"/>
            </p:custDataLst>
          </p:nvPr>
        </p:nvSpPr>
        <p:spPr>
          <a:xfrm>
            <a:off x="4886325" y="3533775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基于课程内容自动生成选择题，支持答题解析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24" name="dsl:feat-card6-bg"/>
          <p:cNvSpPr/>
          <p:nvPr>
            <p:custDataLst>
              <p:tags r:id="rId24"/>
            </p:custDataLst>
          </p:nvPr>
        </p:nvSpPr>
        <p:spPr>
          <a:xfrm>
            <a:off x="8096250" y="30765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sl:feat-card6-icon|i=fas:pen-to-square" descr="tmpsyi5qrxc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286750" y="32670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feat-card6-title"/>
          <p:cNvSpPr txBox="1"/>
          <p:nvPr>
            <p:custDataLst>
              <p:tags r:id="rId26"/>
            </p:custDataLst>
          </p:nvPr>
        </p:nvSpPr>
        <p:spPr>
          <a:xfrm>
            <a:off x="8648700" y="3219450"/>
            <a:ext cx="2762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F8FAFC"/>
                </a:solidFill>
                <a:latin typeface="Liter"/>
                <a:ea typeface="alimamashuheiti"/>
              </a:rPr>
              <a:t>笔记编辑导出</a:t>
            </a:r>
            <a:endParaRPr sz="1275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27" name="dsl:feat-card6-desc"/>
          <p:cNvSpPr txBox="1"/>
          <p:nvPr>
            <p:custDataLst>
              <p:tags r:id="rId27"/>
            </p:custDataLst>
          </p:nvPr>
        </p:nvSpPr>
        <p:spPr>
          <a:xfrm>
            <a:off x="8648700" y="3533775"/>
            <a:ext cx="27622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富文本编辑、Markdown 导出、分享链接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31" name="dsl:feat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05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num"/>
          <p:cNvSpPr txBox="1"/>
          <p:nvPr/>
        </p:nvSpPr>
        <p:spPr>
          <a:xfrm>
            <a:off x="571500" y="2286000"/>
            <a:ext cx="190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4800" noProof="1">
                <a:solidFill>
                  <a:srgbClr val="F59E0B"/>
                </a:solidFill>
                <a:latin typeface="Liter"/>
                <a:ea typeface="Liter"/>
              </a:rPr>
              <a:t>02</a:t>
            </a:r>
            <a:endParaRPr sz="48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3" name="dsl:ch2-title"/>
          <p:cNvSpPr txBox="1"/>
          <p:nvPr/>
        </p:nvSpPr>
        <p:spPr>
          <a:xfrm>
            <a:off x="571500" y="3143250"/>
            <a:ext cx="571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8FAFC"/>
                </a:solidFill>
                <a:latin typeface="Liter"/>
                <a:ea typeface="alimamashuheiti"/>
              </a:rPr>
              <a:t>技术架构</a:t>
            </a:r>
            <a:endParaRPr sz="27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4" name="dsl:ch2-subtitle"/>
          <p:cNvSpPr txBox="1"/>
          <p:nvPr/>
        </p:nvSpPr>
        <p:spPr>
          <a:xfrm>
            <a:off x="571500" y="3810000"/>
            <a:ext cx="6667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94A3B8"/>
                </a:solidFill>
                <a:latin typeface="Liter"/>
                <a:ea typeface="MiSans"/>
              </a:rPr>
              <a:t>React 18 + FastAPI 全栈架构，AI 能力深度集成</a:t>
            </a:r>
            <a:endParaRPr sz="13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5" name="dsl:ch2-line"/>
          <p:cNvCxnSpPr/>
          <p:nvPr/>
        </p:nvCxnSpPr>
        <p:spPr>
          <a:xfrm>
            <a:off x="571500" y="4286250"/>
            <a:ext cx="952500" cy="0"/>
          </a:xfrm>
          <a:prstGeom prst="straightConnector1">
            <a:avLst/>
          </a:prstGeom>
          <a:ln w="381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s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前后端技术栈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ts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ts-frontend-label"/>
          <p:cNvSpPr txBox="1"/>
          <p:nvPr>
            <p:custDataLst>
              <p:tags r:id="rId1"/>
            </p:custDataLst>
          </p:nvPr>
        </p:nvSpPr>
        <p:spPr>
          <a:xfrm>
            <a:off x="571500" y="1047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0B981"/>
                </a:solidFill>
                <a:latin typeface="Liter"/>
                <a:ea typeface="alimamashuheiti"/>
              </a:rPr>
              <a:t>前端</a:t>
            </a:r>
            <a:endParaRPr sz="1050" noProof="1">
              <a:solidFill>
                <a:srgbClr val="10B981"/>
              </a:solidFill>
              <a:latin typeface="Liter"/>
              <a:ea typeface="alimamashuheiti"/>
            </a:endParaRPr>
          </a:p>
        </p:txBody>
      </p:sp>
      <p:sp>
        <p:nvSpPr>
          <p:cNvPr id="5" name="dsl:ts-frontend-card"/>
          <p:cNvSpPr/>
          <p:nvPr>
            <p:custDataLst>
              <p:tags r:id="rId2"/>
            </p:custDataLst>
          </p:nvPr>
        </p:nvSpPr>
        <p:spPr>
          <a:xfrm>
            <a:off x="571500" y="1409700"/>
            <a:ext cx="5334000" cy="177419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s-frontend-content"/>
          <p:cNvSpPr txBox="1"/>
          <p:nvPr>
            <p:custDataLst>
              <p:tags r:id="rId3"/>
            </p:custDataLst>
          </p:nvPr>
        </p:nvSpPr>
        <p:spPr>
          <a:xfrm>
            <a:off x="762000" y="1504950"/>
            <a:ext cx="4953000" cy="1638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0B981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React 18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+ TypeScript + Vite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0B981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Tailwind CSS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原子化样式 + 暗色主题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0B981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Zustand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轻量状态管理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0B981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ReactFlow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知识图谱可视化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0B981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Lucide React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图标体系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7" name="dsl:ts-backend-label"/>
          <p:cNvSpPr txBox="1"/>
          <p:nvPr>
            <p:custDataLst>
              <p:tags r:id="rId4"/>
            </p:custDataLst>
          </p:nvPr>
        </p:nvSpPr>
        <p:spPr>
          <a:xfrm>
            <a:off x="6286500" y="1047750"/>
            <a:ext cx="114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3B82F6"/>
                </a:solidFill>
                <a:latin typeface="Liter"/>
                <a:ea typeface="alimamashuheiti"/>
              </a:rPr>
              <a:t>后端</a:t>
            </a:r>
            <a:endParaRPr sz="1050" noProof="1">
              <a:solidFill>
                <a:srgbClr val="3B82F6"/>
              </a:solidFill>
              <a:latin typeface="Liter"/>
              <a:ea typeface="alimamashuheiti"/>
            </a:endParaRPr>
          </a:p>
        </p:txBody>
      </p:sp>
      <p:sp>
        <p:nvSpPr>
          <p:cNvPr id="8" name="dsl:ts-backend-card"/>
          <p:cNvSpPr/>
          <p:nvPr>
            <p:custDataLst>
              <p:tags r:id="rId5"/>
            </p:custDataLst>
          </p:nvPr>
        </p:nvSpPr>
        <p:spPr>
          <a:xfrm>
            <a:off x="6286500" y="1409700"/>
            <a:ext cx="5334000" cy="177355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s-backend-content"/>
          <p:cNvSpPr txBox="1"/>
          <p:nvPr>
            <p:custDataLst>
              <p:tags r:id="rId6"/>
            </p:custDataLst>
          </p:nvPr>
        </p:nvSpPr>
        <p:spPr>
          <a:xfrm>
            <a:off x="6477000" y="1504950"/>
            <a:ext cx="4953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3B82F6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FastAPI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异步高性能 API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3B82F6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SQLAlchemy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ORM + Alembic 迁移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3B82F6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SQLite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默认数据库（可扩展）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3B82F6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JWT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认证 + 权限控制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3B82F6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多 Agent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异步任务架构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0" name="dsl:ts-ai-label"/>
          <p:cNvSpPr txBox="1"/>
          <p:nvPr/>
        </p:nvSpPr>
        <p:spPr>
          <a:xfrm>
            <a:off x="571500" y="314325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59E0B"/>
                </a:solidFill>
                <a:latin typeface="Liter"/>
                <a:ea typeface="alimamashuheiti"/>
              </a:rPr>
              <a:t>AI / 音频 / 向量</a:t>
            </a:r>
            <a:endParaRPr sz="105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11" name="dsl:ts-ai-card"/>
          <p:cNvSpPr/>
          <p:nvPr/>
        </p:nvSpPr>
        <p:spPr>
          <a:xfrm>
            <a:off x="571500" y="3505200"/>
            <a:ext cx="11049000" cy="178371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s-ai-content"/>
          <p:cNvSpPr txBox="1"/>
          <p:nvPr/>
        </p:nvSpPr>
        <p:spPr>
          <a:xfrm>
            <a:off x="762000" y="3600450"/>
            <a:ext cx="10668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F59E0B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FunASR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本地语音识别（paraformer-zh + VAD + 标点）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F59E0B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DeepSeek API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大语言模型（知识图谱 / RAG / 测验生成）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F59E0B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DashScope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文本 Embedding（text-embedding-v2）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F59E0B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本地向量搜索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：numpy 余弦相似度，无需外部向量数据库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F59E0B"/>
                </a:solidFill>
                <a:latin typeface="Liter"/>
                <a:ea typeface="MiSans"/>
              </a:rPr>
              <a:t>●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 </a:t>
            </a:r>
            <a:r>
              <a:rPr sz="1200" b="1" noProof="1">
                <a:solidFill>
                  <a:srgbClr val="F8FAFC"/>
                </a:solidFill>
                <a:latin typeface="Liter"/>
                <a:ea typeface="MiSans"/>
              </a:rPr>
              <a:t>三级降级策略</a:t>
            </a:r>
            <a:r>
              <a:rPr sz="1200" noProof="1">
                <a:solidFill>
                  <a:srgbClr val="F8FAFC"/>
                </a:solidFill>
                <a:latin typeface="Liter"/>
                <a:ea typeface="MiSans"/>
              </a:rPr>
              <a:t>：ASR / Embedding / LLM 均设计 fallback</a:t>
            </a:r>
            <a:endParaRPr sz="120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3" name="dsl:ts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07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rch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系统架构与数据流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arch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arch-layer-user"/>
          <p:cNvSpPr/>
          <p:nvPr/>
        </p:nvSpPr>
        <p:spPr>
          <a:xfrm>
            <a:off x="571500" y="1047750"/>
            <a:ext cx="1905000" cy="4762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arch-layer-user-text"/>
          <p:cNvSpPr txBox="1"/>
          <p:nvPr/>
        </p:nvSpPr>
        <p:spPr>
          <a:xfrm>
            <a:off x="571500" y="1047750"/>
            <a:ext cx="190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0F172A"/>
                </a:solidFill>
                <a:latin typeface="Liter"/>
                <a:ea typeface="MiSans"/>
              </a:rPr>
              <a:t>用户层 (React)</a:t>
            </a:r>
            <a:endParaRPr sz="1125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6" name="dsl:arch-arrow1"/>
          <p:cNvCxnSpPr/>
          <p:nvPr/>
        </p:nvCxnSpPr>
        <p:spPr>
          <a:xfrm>
            <a:off x="2571750" y="1238250"/>
            <a:ext cx="381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arch-layer-api"/>
          <p:cNvSpPr/>
          <p:nvPr/>
        </p:nvSpPr>
        <p:spPr>
          <a:xfrm>
            <a:off x="3048000" y="1047750"/>
            <a:ext cx="1905000" cy="47625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arch-layer-api-text"/>
          <p:cNvSpPr txBox="1"/>
          <p:nvPr/>
        </p:nvSpPr>
        <p:spPr>
          <a:xfrm>
            <a:off x="3048000" y="1047750"/>
            <a:ext cx="190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0F172A"/>
                </a:solidFill>
                <a:latin typeface="Liter"/>
                <a:ea typeface="MiSans"/>
              </a:rPr>
              <a:t>API 网关 (FastAPI)</a:t>
            </a:r>
            <a:endParaRPr sz="1125" noProof="1">
              <a:solidFill>
                <a:srgbClr val="0F172A"/>
              </a:solidFill>
              <a:latin typeface="Liter"/>
              <a:ea typeface="MiSans"/>
            </a:endParaRPr>
          </a:p>
        </p:txBody>
      </p:sp>
      <p:cxnSp>
        <p:nvCxnSpPr>
          <p:cNvPr id="9" name="dsl:arch-arrow2"/>
          <p:cNvCxnSpPr/>
          <p:nvPr/>
        </p:nvCxnSpPr>
        <p:spPr>
          <a:xfrm>
            <a:off x="5048250" y="1238250"/>
            <a:ext cx="381000" cy="0"/>
          </a:xfrm>
          <a:prstGeom prst="straightConnector1">
            <a:avLst/>
          </a:prstGeom>
          <a:ln w="25400">
            <a:solidFill>
              <a:srgbClr val="3B82F6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arch-layer-service"/>
          <p:cNvSpPr/>
          <p:nvPr/>
        </p:nvSpPr>
        <p:spPr>
          <a:xfrm>
            <a:off x="5524500" y="1047750"/>
            <a:ext cx="6096000" cy="47625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arch-layer-service-text"/>
          <p:cNvSpPr txBox="1"/>
          <p:nvPr/>
        </p:nvSpPr>
        <p:spPr>
          <a:xfrm>
            <a:off x="5524500" y="1047750"/>
            <a:ext cx="6096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8FAFC"/>
                </a:solidFill>
                <a:latin typeface="Liter"/>
                <a:ea typeface="MiSans"/>
              </a:rPr>
              <a:t>ASR 服务  |  PPT 服务  |  向量服务  |  RAG 服务  |  知识图谱  |  测验服务</a:t>
            </a:r>
            <a:endParaRPr sz="10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2" name="dsl:arch-db-label"/>
          <p:cNvSpPr txBox="1"/>
          <p:nvPr/>
        </p:nvSpPr>
        <p:spPr>
          <a:xfrm>
            <a:off x="571500" y="1762125"/>
            <a:ext cx="1143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数据存储层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3" name="dsl:arch-db-sqlite"/>
          <p:cNvSpPr/>
          <p:nvPr/>
        </p:nvSpPr>
        <p:spPr>
          <a:xfrm>
            <a:off x="571500" y="2076450"/>
            <a:ext cx="2667000" cy="52387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arch-db-sqlite-text"/>
          <p:cNvSpPr txBox="1"/>
          <p:nvPr/>
        </p:nvSpPr>
        <p:spPr>
          <a:xfrm>
            <a:off x="571500" y="2076450"/>
            <a:ext cx="266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8FAFC"/>
                </a:solidFill>
                <a:latin typeface="Liter"/>
                <a:ea typeface="MiSans"/>
              </a:rPr>
              <a:t>SQLite 关系数据</a:t>
            </a:r>
            <a:endParaRPr sz="10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5" name="dsl:arch-db-vector"/>
          <p:cNvSpPr/>
          <p:nvPr/>
        </p:nvSpPr>
        <p:spPr>
          <a:xfrm>
            <a:off x="3429000" y="2076450"/>
            <a:ext cx="2667000" cy="52387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arch-db-vector-text"/>
          <p:cNvSpPr txBox="1"/>
          <p:nvPr/>
        </p:nvSpPr>
        <p:spPr>
          <a:xfrm>
            <a:off x="3429000" y="2076450"/>
            <a:ext cx="266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8FAFC"/>
                </a:solidFill>
                <a:latin typeface="Liter"/>
                <a:ea typeface="MiSans"/>
              </a:rPr>
              <a:t>本地向量索引</a:t>
            </a:r>
            <a:endParaRPr sz="10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7" name="dsl:arch-db-file"/>
          <p:cNvSpPr/>
          <p:nvPr/>
        </p:nvSpPr>
        <p:spPr>
          <a:xfrm>
            <a:off x="6286500" y="2076450"/>
            <a:ext cx="2667000" cy="52387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arch-db-file-text"/>
          <p:cNvSpPr txBox="1"/>
          <p:nvPr/>
        </p:nvSpPr>
        <p:spPr>
          <a:xfrm>
            <a:off x="6286500" y="2076450"/>
            <a:ext cx="266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8FAFC"/>
                </a:solidFill>
                <a:latin typeface="Liter"/>
                <a:ea typeface="MiSans"/>
              </a:rPr>
              <a:t>文件系统 (音频 / PPT 图片)</a:t>
            </a:r>
            <a:endParaRPr sz="10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9" name="dsl:arch-db-external"/>
          <p:cNvSpPr/>
          <p:nvPr/>
        </p:nvSpPr>
        <p:spPr>
          <a:xfrm>
            <a:off x="9144000" y="2076450"/>
            <a:ext cx="2476500" cy="52387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arch-db-external-text"/>
          <p:cNvSpPr txBox="1"/>
          <p:nvPr/>
        </p:nvSpPr>
        <p:spPr>
          <a:xfrm>
            <a:off x="9144000" y="2076450"/>
            <a:ext cx="2476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8FAFC"/>
                </a:solidFill>
                <a:latin typeface="Liter"/>
                <a:ea typeface="MiSans"/>
              </a:rPr>
              <a:t>外部 API (DeepSeek)</a:t>
            </a:r>
            <a:endParaRPr sz="1050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21" name="dsl:arch-flow-label"/>
          <p:cNvSpPr txBox="1"/>
          <p:nvPr/>
        </p:nvSpPr>
        <p:spPr>
          <a:xfrm>
            <a:off x="571500" y="2857500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94A3B8"/>
                </a:solidFill>
                <a:latin typeface="Liter"/>
                <a:ea typeface="MiSans"/>
              </a:rPr>
              <a:t>核心数据流</a:t>
            </a:r>
            <a:endParaRPr sz="97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22" name="dsl:arch-flow-card"/>
          <p:cNvSpPr/>
          <p:nvPr/>
        </p:nvSpPr>
        <p:spPr>
          <a:xfrm>
            <a:off x="571500" y="3162300"/>
            <a:ext cx="11049000" cy="3048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arch-flow-content"/>
          <p:cNvSpPr txBox="1"/>
          <p:nvPr/>
        </p:nvSpPr>
        <p:spPr>
          <a:xfrm>
            <a:off x="762000" y="3286125"/>
            <a:ext cx="10668000" cy="2809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F59E0B"/>
                </a:solidFill>
                <a:latin typeface="Liter"/>
                <a:ea typeface="MiSans"/>
              </a:rPr>
              <a:t>① 语音流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麦克风 → WebSocket 音频流 → FunASR 实时转录 → 时间戳文本块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3B82F6"/>
                </a:solidFill>
                <a:latin typeface="Liter"/>
                <a:ea typeface="MiSans"/>
              </a:rPr>
              <a:t>② PPT 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上传 .pptx → python-pptx 提取文本 → Pillow 渲染 PNG → 时间轴对齐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10B981"/>
                </a:solidFill>
                <a:latin typeface="Liter"/>
                <a:ea typeface="MiSans"/>
              </a:rPr>
              <a:t>③ 笔记流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转录文本 + PPT 内容 → 富文本编辑 → 自动保存 → 向量索引构建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F59E0B"/>
                </a:solidFill>
                <a:latin typeface="Liter"/>
                <a:ea typeface="MiSans"/>
              </a:rPr>
              <a:t>④ AI 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 笔记内容 → DeepSeek 生成知识图谱 / 测验题库 → 异步任务状态追踪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3B82F6"/>
                </a:solidFill>
                <a:latin typeface="Liter"/>
                <a:ea typeface="MiSans"/>
              </a:rPr>
              <a:t>⑤ 问答流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用户提问 → 向量检索 Top-K 片段 → 构造 Prompt → SSE 流式回答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⑥ 分享流</a:t>
            </a: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  生成分享链接 → 公开访问 → 只读模式浏览笔记 / PPT / 知识图谱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24" name="dsl:arch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08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num"/>
          <p:cNvSpPr txBox="1"/>
          <p:nvPr/>
        </p:nvSpPr>
        <p:spPr>
          <a:xfrm>
            <a:off x="571500" y="2286000"/>
            <a:ext cx="190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4800" noProof="1">
                <a:solidFill>
                  <a:srgbClr val="F59E0B"/>
                </a:solidFill>
                <a:latin typeface="Liter"/>
                <a:ea typeface="Liter"/>
              </a:rPr>
              <a:t>03</a:t>
            </a:r>
            <a:endParaRPr sz="4800" noProof="1">
              <a:solidFill>
                <a:srgbClr val="F59E0B"/>
              </a:solidFill>
              <a:latin typeface="Liter"/>
              <a:ea typeface="Liter"/>
            </a:endParaRPr>
          </a:p>
        </p:txBody>
      </p:sp>
      <p:sp>
        <p:nvSpPr>
          <p:cNvPr id="3" name="dsl:ch3-title"/>
          <p:cNvSpPr txBox="1"/>
          <p:nvPr/>
        </p:nvSpPr>
        <p:spPr>
          <a:xfrm>
            <a:off x="571500" y="3143250"/>
            <a:ext cx="571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8FAFC"/>
                </a:solidFill>
                <a:latin typeface="Liter"/>
                <a:ea typeface="alimamashuheiti"/>
              </a:rPr>
              <a:t>核心功能实现</a:t>
            </a:r>
            <a:endParaRPr sz="27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4" name="dsl:ch3-subtitle"/>
          <p:cNvSpPr txBox="1"/>
          <p:nvPr/>
        </p:nvSpPr>
        <p:spPr>
          <a:xfrm>
            <a:off x="571500" y="3810000"/>
            <a:ext cx="6667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94A3B8"/>
                </a:solidFill>
                <a:latin typeface="Liter"/>
                <a:ea typeface="MiSans"/>
              </a:rPr>
              <a:t>从代码层面拆解四大 AI 功能模块</a:t>
            </a:r>
            <a:endParaRPr sz="13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cxnSp>
        <p:nvCxnSpPr>
          <p:cNvPr id="5" name="dsl:ch3-line"/>
          <p:cNvCxnSpPr/>
          <p:nvPr/>
        </p:nvCxnSpPr>
        <p:spPr>
          <a:xfrm>
            <a:off x="571500" y="4286250"/>
            <a:ext cx="952500" cy="0"/>
          </a:xfrm>
          <a:prstGeom prst="straightConnector1">
            <a:avLst/>
          </a:prstGeom>
          <a:ln w="381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sr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实时语音转录与流式 ASR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asr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asr-left-card"/>
          <p:cNvSpPr/>
          <p:nvPr/>
        </p:nvSpPr>
        <p:spPr>
          <a:xfrm>
            <a:off x="571500" y="1047750"/>
            <a:ext cx="6096000" cy="542925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asr-left-title"/>
          <p:cNvSpPr txBox="1"/>
          <p:nvPr/>
        </p:nvSpPr>
        <p:spPr>
          <a:xfrm>
            <a:off x="7620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59E0B"/>
                </a:solidFill>
                <a:latin typeface="Liter"/>
                <a:ea typeface="alimamashuheiti"/>
              </a:rPr>
              <a:t>三级降级策略</a:t>
            </a:r>
            <a:endParaRPr sz="120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6" name="dsl:asr-left-content"/>
          <p:cNvSpPr txBox="1"/>
          <p:nvPr/>
        </p:nvSpPr>
        <p:spPr>
          <a:xfrm>
            <a:off x="762000" y="1476375"/>
            <a:ext cx="57150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Level 1 — FunASR 本地模型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paraformer-zh + fsmn-vad + ct-punc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离线运行，零网络依赖，隐私安全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90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Level 2 — DashScope 云端 ASR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paraformer-realtime-v2，高准确率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网络可用时自动切换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90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Level 3 — Whisper API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OpenAI-compatible 接口兜底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确保任何情况下服务可用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流式实时处理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600ms 分块缓冲 + 模型缓存去重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避免文本重复输出， silence 800ms 自动分段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每个片段附带精确时间戳（start_ms / end_ms）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8" name="dsl:asr-right-screenshot-box"/>
          <p:cNvSpPr/>
          <p:nvPr/>
        </p:nvSpPr>
        <p:spPr>
          <a:xfrm>
            <a:off x="6953250" y="1352550"/>
            <a:ext cx="4667250" cy="23812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25400">
            <a:solidFill>
              <a:srgbClr val="3341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asr-right-screenshot-hint"/>
          <p:cNvSpPr txBox="1"/>
          <p:nvPr/>
        </p:nvSpPr>
        <p:spPr>
          <a:xfrm>
            <a:off x="7620000" y="2333625"/>
            <a:ext cx="333375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[ 语音转录界面截图 ]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0" name="dsl:asr-right-code-label"/>
          <p:cNvSpPr txBox="1"/>
          <p:nvPr/>
        </p:nvSpPr>
        <p:spPr>
          <a:xfrm>
            <a:off x="6953250" y="39052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59E0B"/>
                </a:solidFill>
                <a:latin typeface="Liter"/>
                <a:ea typeface="alimamashuheiti"/>
              </a:rPr>
              <a:t>核心代码片段</a:t>
            </a:r>
            <a:endParaRPr sz="105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11" name="dsl:asr-right-code-box"/>
          <p:cNvSpPr/>
          <p:nvPr/>
        </p:nvSpPr>
        <p:spPr>
          <a:xfrm>
            <a:off x="6953250" y="4210050"/>
            <a:ext cx="4667250" cy="2252980"/>
          </a:xfrm>
          <a:prstGeom prst="roundRect">
            <a:avLst>
              <a:gd name="adj" fmla="val 4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asr-right-code-text"/>
          <p:cNvSpPr txBox="1"/>
          <p:nvPr/>
        </p:nvSpPr>
        <p:spPr>
          <a:xfrm>
            <a:off x="7096125" y="4305300"/>
            <a:ext cx="4381500" cy="214185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59E0B"/>
                </a:solidFill>
                <a:latin typeface="Liter"/>
                <a:ea typeface="MiSans"/>
              </a:rPr>
              <a:t># 三级 ASR 降级策略</a:t>
            </a:r>
            <a:endParaRPr sz="900" noProof="1">
              <a:solidFill>
                <a:srgbClr val="F59E0B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def transcribe(audio_path):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10B981"/>
                </a:solidFill>
                <a:latin typeface="Liter"/>
                <a:ea typeface="MiSans"/>
              </a:rPr>
              <a:t># 1. 优先本地 FunASR</a:t>
            </a:r>
            <a:endParaRPr sz="900" noProof="1">
              <a:solidFill>
                <a:srgbClr val="10B981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segments = funasr_transcribe(audio_path)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if segments: return segments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3B82F6"/>
                </a:solidFill>
                <a:latin typeface="Liter"/>
                <a:ea typeface="MiSans"/>
              </a:rPr>
              <a:t># 2. 降级 DashScope 云端</a:t>
            </a:r>
            <a:endParaRPr sz="900" noProof="1">
              <a:solidFill>
                <a:srgbClr val="3B82F6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segments = dashscope_asr(audio_path)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if segments: return segments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# 3. 最终 Whisper API 兜底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return whisper_api(audio_path)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3" name="dsl:asr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10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pic>
        <p:nvPicPr>
          <p:cNvPr id="14" name="图片 13" descr="0eda38600f8b193ac2ee36fa617f75d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9110" y="890270"/>
            <a:ext cx="5226685" cy="294830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pt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PPT 课件对齐与知识图谱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ppt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pt-left-card"/>
          <p:cNvSpPr/>
          <p:nvPr/>
        </p:nvSpPr>
        <p:spPr>
          <a:xfrm>
            <a:off x="571500" y="1047750"/>
            <a:ext cx="6096000" cy="51435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pt-left-title"/>
          <p:cNvSpPr txBox="1"/>
          <p:nvPr/>
        </p:nvSpPr>
        <p:spPr>
          <a:xfrm>
            <a:off x="7620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3B82F6"/>
                </a:solidFill>
                <a:latin typeface="Liter"/>
                <a:ea typeface="alimamashuheiti"/>
              </a:rPr>
              <a:t>PPT 解析与对齐</a:t>
            </a:r>
            <a:endParaRPr sz="1200" noProof="1">
              <a:solidFill>
                <a:srgbClr val="3B82F6"/>
              </a:solidFill>
              <a:latin typeface="Liter"/>
              <a:ea typeface="alimamashuheiti"/>
            </a:endParaRPr>
          </a:p>
        </p:txBody>
      </p:sp>
      <p:sp>
        <p:nvSpPr>
          <p:cNvPr id="6" name="dsl:ppt-left-content"/>
          <p:cNvSpPr txBox="1"/>
          <p:nvPr/>
        </p:nvSpPr>
        <p:spPr>
          <a:xfrm>
            <a:off x="762000" y="1476375"/>
            <a:ext cx="5715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上传解析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python-pptx 提取幻灯片文本与结构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Pillow 渲染每页为 PNG 图片存储到磁盘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75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时间轴对齐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幻灯片内容与转录文本按时间戳关联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点击转录片段自动跳转到对应 PPT 页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支持键盘 ↑↓ 翻页浏览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cxnSp>
        <p:nvCxnSpPr>
          <p:cNvPr id="7" name="dsl:ppt-left-divider"/>
          <p:cNvCxnSpPr/>
          <p:nvPr/>
        </p:nvCxnSpPr>
        <p:spPr>
          <a:xfrm>
            <a:off x="762000" y="3714750"/>
            <a:ext cx="5715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pt-left-title2"/>
          <p:cNvSpPr txBox="1"/>
          <p:nvPr/>
        </p:nvSpPr>
        <p:spPr>
          <a:xfrm>
            <a:off x="762000" y="385762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10B981"/>
                </a:solidFill>
                <a:latin typeface="Liter"/>
                <a:ea typeface="alimamashuheiti"/>
              </a:rPr>
              <a:t>AI 知识图谱</a:t>
            </a:r>
            <a:endParaRPr sz="1200" noProof="1">
              <a:solidFill>
                <a:srgbClr val="10B981"/>
              </a:solidFill>
              <a:latin typeface="Liter"/>
              <a:ea typeface="alimamashuheiti"/>
            </a:endParaRPr>
          </a:p>
        </p:txBody>
      </p:sp>
      <p:sp>
        <p:nvSpPr>
          <p:cNvPr id="9" name="dsl:ppt-left-content2"/>
          <p:cNvSpPr txBox="1"/>
          <p:nvPr/>
        </p:nvSpPr>
        <p:spPr>
          <a:xfrm>
            <a:off x="762000" y="4191000"/>
            <a:ext cx="5715000" cy="1857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生成流程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DeepSeek 分析笔记内容 → 提取主题/概念/要点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生成结构化节点关系数据（JSON）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可视化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ReactFlow 渲染交互式知识图谱画布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9 种节点类型：主题、概念、要点、难点、示例、流程、函数、问题、结论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支持展开/折叠、拖拽布局、导出大纲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1" name="dsl:ppt-right-screenshot-box"/>
          <p:cNvSpPr/>
          <p:nvPr/>
        </p:nvSpPr>
        <p:spPr>
          <a:xfrm>
            <a:off x="6953250" y="1076960"/>
            <a:ext cx="4667250" cy="2656840"/>
          </a:xfrm>
          <a:prstGeom prst="roundRect">
            <a:avLst>
              <a:gd name="adj" fmla="val 6000"/>
            </a:avLst>
          </a:prstGeom>
          <a:blipFill rotWithShape="1">
            <a:blip r:embed="rId1"/>
            <a:stretch>
              <a:fillRect/>
            </a:stretch>
          </a:blipFill>
          <a:ln w="25400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ppt-right-code-label"/>
          <p:cNvSpPr txBox="1"/>
          <p:nvPr/>
        </p:nvSpPr>
        <p:spPr>
          <a:xfrm>
            <a:off x="6953250" y="39052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59E0B"/>
                </a:solidFill>
                <a:latin typeface="Liter"/>
                <a:ea typeface="alimamashuheiti"/>
              </a:rPr>
              <a:t>节点类型定义</a:t>
            </a:r>
            <a:endParaRPr sz="105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14" name="dsl:ppt-right-code-box"/>
          <p:cNvSpPr/>
          <p:nvPr/>
        </p:nvSpPr>
        <p:spPr>
          <a:xfrm>
            <a:off x="6953250" y="4210050"/>
            <a:ext cx="4667250" cy="1981200"/>
          </a:xfrm>
          <a:prstGeom prst="roundRect">
            <a:avLst>
              <a:gd name="adj" fmla="val 4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pt-right-code-text"/>
          <p:cNvSpPr txBox="1"/>
          <p:nvPr/>
        </p:nvSpPr>
        <p:spPr>
          <a:xfrm>
            <a:off x="7096125" y="4305300"/>
            <a:ext cx="4381500" cy="1790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59E0B"/>
                </a:solidFill>
                <a:latin typeface="Liter"/>
                <a:ea typeface="MiSans"/>
              </a:rPr>
              <a:t>// 知识图谱节点类型与配色</a:t>
            </a:r>
            <a:endParaRPr sz="900" noProof="1">
              <a:solidFill>
                <a:srgbClr val="F59E0B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TYPE_ACCENT = {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topic:      </a:t>
            </a:r>
            <a:r>
              <a:rPr sz="900" noProof="1">
                <a:solidFill>
                  <a:srgbClr val="A855F7"/>
                </a:solidFill>
                <a:latin typeface="Liter"/>
                <a:ea typeface="MiSans"/>
              </a:rPr>
              <a:t>'border-purple'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concept:    </a:t>
            </a:r>
            <a:r>
              <a:rPr sz="900" noProof="1">
                <a:solidFill>
                  <a:srgbClr val="3B82F6"/>
                </a:solidFill>
                <a:latin typeface="Liter"/>
                <a:ea typeface="MiSans"/>
              </a:rPr>
              <a:t>'border-blue'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key_point:  </a:t>
            </a:r>
            <a:r>
              <a:rPr sz="900" noProof="1">
                <a:solidFill>
                  <a:srgbClr val="10B981"/>
                </a:solidFill>
                <a:latin typeface="Liter"/>
                <a:ea typeface="MiSans"/>
              </a:rPr>
              <a:t>'border-emerald'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difficulty: </a:t>
            </a:r>
            <a:r>
              <a:rPr sz="900" noProof="1">
                <a:solidFill>
                  <a:srgbClr val="F43F5E"/>
                </a:solidFill>
                <a:latin typeface="Liter"/>
                <a:ea typeface="MiSans"/>
              </a:rPr>
              <a:t>'border-rose'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example:    </a:t>
            </a:r>
            <a:r>
              <a:rPr sz="900" noProof="1">
                <a:solidFill>
                  <a:srgbClr val="F59E0B"/>
                </a:solidFill>
                <a:latin typeface="Liter"/>
                <a:ea typeface="MiSans"/>
              </a:rPr>
              <a:t>'border-amber'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process:    </a:t>
            </a:r>
            <a:r>
              <a:rPr sz="900" noProof="1">
                <a:solidFill>
                  <a:srgbClr val="06B6D4"/>
                </a:solidFill>
                <a:latin typeface="Liter"/>
                <a:ea typeface="MiSans"/>
              </a:rPr>
              <a:t>'border-cyan'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,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}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6" name="dsl:ppt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11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rag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RAG 智能问答与 AI 测验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rag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rag-left-card"/>
          <p:cNvSpPr/>
          <p:nvPr/>
        </p:nvSpPr>
        <p:spPr>
          <a:xfrm>
            <a:off x="571500" y="1047750"/>
            <a:ext cx="6096000" cy="542925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rag-left-title"/>
          <p:cNvSpPr txBox="1"/>
          <p:nvPr/>
        </p:nvSpPr>
        <p:spPr>
          <a:xfrm>
            <a:off x="7620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59E0B"/>
                </a:solidFill>
                <a:latin typeface="Liter"/>
                <a:ea typeface="alimamashuheiti"/>
              </a:rPr>
              <a:t>RAG 问答流程</a:t>
            </a:r>
            <a:endParaRPr sz="120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6" name="dsl:rag-left-content"/>
          <p:cNvSpPr txBox="1"/>
          <p:nvPr/>
        </p:nvSpPr>
        <p:spPr>
          <a:xfrm>
            <a:off x="762000" y="1476375"/>
            <a:ext cx="5715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Step 1 — 向量检索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用户提问 → 本地向量索引 Top-K 检索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覆盖范围：转录文本 / PPT 内容 / 笔记块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75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Step 2 — 上下文构建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提取相关片段，标注来源位置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PPT 页码 / 转录时间戳 / 笔记块 ID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75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Step 3 — 流式生成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DeepSeek 基于上下文生成答案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SSE 实时推送，逐字呈现回答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cxnSp>
        <p:nvCxnSpPr>
          <p:cNvPr id="7" name="dsl:rag-left-divider"/>
          <p:cNvCxnSpPr/>
          <p:nvPr/>
        </p:nvCxnSpPr>
        <p:spPr>
          <a:xfrm>
            <a:off x="762000" y="3714750"/>
            <a:ext cx="5715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rag-left-content2"/>
          <p:cNvSpPr txBox="1"/>
          <p:nvPr/>
        </p:nvSpPr>
        <p:spPr>
          <a:xfrm>
            <a:off x="762000" y="4191000"/>
            <a:ext cx="5715000" cy="1857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题库构建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DeepSeek 分析课程内容生成选择题题库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异步任务状态追踪，支持重建题库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125" b="1" noProof="1">
                <a:solidFill>
                  <a:srgbClr val="F8FAFC"/>
                </a:solidFill>
                <a:latin typeface="Liter"/>
                <a:ea typeface="MiSans"/>
              </a:rPr>
              <a:t>测验流程</a:t>
            </a:r>
            <a:endParaRPr sz="1125" b="1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从题库随机抽题生成测验 → 用户答题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提交后查看正确答案与解析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8FAFC"/>
                </a:solidFill>
                <a:latin typeface="Liter"/>
                <a:ea typeface="MiSans"/>
              </a:rPr>
              <a:t>历史测验记录与成绩追踪</a:t>
            </a:r>
            <a:endParaRPr sz="1125" noProof="1">
              <a:solidFill>
                <a:srgbClr val="F8FAFC"/>
              </a:solidFill>
              <a:latin typeface="Liter"/>
              <a:ea typeface="MiSans"/>
            </a:endParaRPr>
          </a:p>
        </p:txBody>
      </p:sp>
      <p:sp>
        <p:nvSpPr>
          <p:cNvPr id="11" name="dsl:rag-right-screenshot-box"/>
          <p:cNvSpPr/>
          <p:nvPr/>
        </p:nvSpPr>
        <p:spPr>
          <a:xfrm>
            <a:off x="6953250" y="1047750"/>
            <a:ext cx="4667250" cy="2686050"/>
          </a:xfrm>
          <a:prstGeom prst="roundRect">
            <a:avLst>
              <a:gd name="adj" fmla="val 6000"/>
            </a:avLst>
          </a:prstGeom>
          <a:blipFill rotWithShape="1">
            <a:blip r:embed="rId1"/>
            <a:stretch>
              <a:fillRect/>
            </a:stretch>
          </a:blipFill>
          <a:ln w="25400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rag-right-code-label"/>
          <p:cNvSpPr txBox="1"/>
          <p:nvPr/>
        </p:nvSpPr>
        <p:spPr>
          <a:xfrm>
            <a:off x="6953250" y="3905250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59E0B"/>
                </a:solidFill>
                <a:latin typeface="Liter"/>
                <a:ea typeface="alimamashuheiti"/>
              </a:rPr>
              <a:t>向量检索核心逻辑</a:t>
            </a:r>
            <a:endParaRPr sz="1050" noProof="1">
              <a:solidFill>
                <a:srgbClr val="F59E0B"/>
              </a:solidFill>
              <a:latin typeface="Liter"/>
              <a:ea typeface="alimamashuheiti"/>
            </a:endParaRPr>
          </a:p>
        </p:txBody>
      </p:sp>
      <p:sp>
        <p:nvSpPr>
          <p:cNvPr id="14" name="dsl:rag-right-code-box"/>
          <p:cNvSpPr/>
          <p:nvPr/>
        </p:nvSpPr>
        <p:spPr>
          <a:xfrm>
            <a:off x="6953250" y="4210050"/>
            <a:ext cx="4667250" cy="1981200"/>
          </a:xfrm>
          <a:prstGeom prst="roundRect">
            <a:avLst>
              <a:gd name="adj" fmla="val 4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rag-right-code-text"/>
          <p:cNvSpPr txBox="1"/>
          <p:nvPr/>
        </p:nvSpPr>
        <p:spPr>
          <a:xfrm>
            <a:off x="7096125" y="4305300"/>
            <a:ext cx="4381500" cy="1790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59E0B"/>
                </a:solidFill>
                <a:latin typeface="Liter"/>
                <a:ea typeface="MiSans"/>
              </a:rPr>
              <a:t># 本地向量搜索（无需外部数据库）</a:t>
            </a:r>
            <a:endParaRPr sz="900" noProof="1">
              <a:solidFill>
                <a:srgbClr val="F59E0B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def search_vectors(query, top_k=5):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10B981"/>
                </a:solidFill>
                <a:latin typeface="Liter"/>
                <a:ea typeface="MiSans"/>
              </a:rPr>
              <a:t># 1. 生成查询向量</a:t>
            </a:r>
            <a:endParaRPr sz="900" noProof="1">
              <a:solidFill>
                <a:srgbClr val="10B981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q_vec = neural_embedding(query)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3B82F6"/>
                </a:solidFill>
                <a:latin typeface="Liter"/>
                <a:ea typeface="MiSans"/>
              </a:rPr>
              <a:t># 2. numpy 批量余弦相似度</a:t>
            </a:r>
            <a:endParaRPr sz="900" noProof="1">
              <a:solidFill>
                <a:srgbClr val="3B82F6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scores = cosine_similarity(q_vec, index)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</a:t>
            </a: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# 3. 返回 Top-K 结果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94A3B8"/>
                </a:solidFill>
                <a:latin typeface="Liter"/>
                <a:ea typeface="MiSans"/>
              </a:rPr>
              <a:t>    return top_k_results(scores)</a:t>
            </a:r>
            <a:endParaRPr sz="90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6" name="dsl:rag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12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hl-title|s=$heading"/>
          <p:cNvSpPr txBox="1"/>
          <p:nvPr/>
        </p:nvSpPr>
        <p:spPr>
          <a:xfrm>
            <a:off x="571500" y="381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F8FAFC"/>
                </a:solidFill>
                <a:latin typeface="Liter"/>
                <a:ea typeface="alimamashuheiti"/>
              </a:rPr>
              <a:t>技术亮点与工程实践</a:t>
            </a:r>
            <a:endParaRPr sz="21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hl-line"/>
          <p:cNvCxnSpPr/>
          <p:nvPr/>
        </p:nvCxnSpPr>
        <p:spPr>
          <a:xfrm>
            <a:off x="571500" y="838200"/>
            <a:ext cx="11049000" cy="0"/>
          </a:xfrm>
          <a:prstGeom prst="straightConnector1">
            <a:avLst/>
          </a:prstGeom>
          <a:ln w="12700">
            <a:solidFill>
              <a:srgbClr val="33415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hl-card1-bg"/>
          <p:cNvSpPr/>
          <p:nvPr/>
        </p:nvSpPr>
        <p:spPr>
          <a:xfrm>
            <a:off x="571500" y="1047750"/>
            <a:ext cx="53340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hl-card1-accent"/>
          <p:cNvSpPr/>
          <p:nvPr/>
        </p:nvSpPr>
        <p:spPr>
          <a:xfrm>
            <a:off x="571500" y="1047750"/>
            <a:ext cx="38100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hl-card1-icon|i=fas:database" descr="tmp5gr4bk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hl-card1-title"/>
          <p:cNvSpPr txBox="1"/>
          <p:nvPr/>
        </p:nvSpPr>
        <p:spPr>
          <a:xfrm>
            <a:off x="1238250" y="1219200"/>
            <a:ext cx="4476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Liter"/>
                <a:ea typeface="alimamashuheiti"/>
              </a:rPr>
              <a:t>本地向量搜索</a:t>
            </a:r>
            <a:endParaRPr sz="15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8" name="dsl:hl-card1-body"/>
          <p:cNvSpPr txBox="1"/>
          <p:nvPr/>
        </p:nvSpPr>
        <p:spPr>
          <a:xfrm>
            <a:off x="809625" y="1666875"/>
            <a:ext cx="485775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无需外部向量数据库，纯本地实现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DashScope text-embedding-v2 生成 1536 维向量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numpy 批量余弦相似度计算，毫秒级响应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TF-IDF 降级策略，确保服务离线可用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9" name="dsl:hl-card2-bg"/>
          <p:cNvSpPr/>
          <p:nvPr/>
        </p:nvSpPr>
        <p:spPr>
          <a:xfrm>
            <a:off x="6286500" y="1047750"/>
            <a:ext cx="53340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hl-card2-accent"/>
          <p:cNvSpPr/>
          <p:nvPr/>
        </p:nvSpPr>
        <p:spPr>
          <a:xfrm>
            <a:off x="6286500" y="1047750"/>
            <a:ext cx="38100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hl-card2-icon|i=fas:gears" descr="tmpqnz2g52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hl-card2-title"/>
          <p:cNvSpPr txBox="1"/>
          <p:nvPr/>
        </p:nvSpPr>
        <p:spPr>
          <a:xfrm>
            <a:off x="6953250" y="1219200"/>
            <a:ext cx="4476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Liter"/>
                <a:ea typeface="alimamashuheiti"/>
              </a:rPr>
              <a:t>多 Agent 异步架构</a:t>
            </a:r>
            <a:endParaRPr sz="15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3" name="dsl:hl-card2-body"/>
          <p:cNvSpPr txBox="1"/>
          <p:nvPr/>
        </p:nvSpPr>
        <p:spPr>
          <a:xfrm>
            <a:off x="6524625" y="1666875"/>
            <a:ext cx="485775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转录 / 知识图谱 / 测验 / 向量索引并行处理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状态机驱动进度追踪，前端实时轮询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每会话独立任务队列，互不阻塞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支持任务中断与重试机制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4" name="dsl:hl-card3-bg"/>
          <p:cNvSpPr/>
          <p:nvPr/>
        </p:nvSpPr>
        <p:spPr>
          <a:xfrm>
            <a:off x="571500" y="3571875"/>
            <a:ext cx="53340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hl-card3-accent"/>
          <p:cNvSpPr/>
          <p:nvPr/>
        </p:nvSpPr>
        <p:spPr>
          <a:xfrm>
            <a:off x="571500" y="3571875"/>
            <a:ext cx="38100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hl-card3-icon|i=fas:shield-halved" descr="tmp08_5fj1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6237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hl-card3-title"/>
          <p:cNvSpPr txBox="1"/>
          <p:nvPr/>
        </p:nvSpPr>
        <p:spPr>
          <a:xfrm>
            <a:off x="1238250" y="3743325"/>
            <a:ext cx="4476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Liter"/>
                <a:ea typeface="alimamashuheiti"/>
              </a:rPr>
              <a:t>三级容错降级</a:t>
            </a:r>
            <a:endParaRPr sz="15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18" name="dsl:hl-card3-body"/>
          <p:cNvSpPr txBox="1"/>
          <p:nvPr/>
        </p:nvSpPr>
        <p:spPr>
          <a:xfrm>
            <a:off x="809625" y="4191000"/>
            <a:ext cx="485775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ASR：FunASR → DashScope → Whisper API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Embedding：DashScope → TF-IDF 本地降级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LLM：DeepSeek 主通道 + 错误兜底提示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确保任何外部服务故障时核心功能可用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19" name="dsl:hl-card4-bg"/>
          <p:cNvSpPr/>
          <p:nvPr/>
        </p:nvSpPr>
        <p:spPr>
          <a:xfrm>
            <a:off x="6286500" y="3571875"/>
            <a:ext cx="53340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hl-card4-accent"/>
          <p:cNvSpPr/>
          <p:nvPr/>
        </p:nvSpPr>
        <p:spPr>
          <a:xfrm>
            <a:off x="6286500" y="3571875"/>
            <a:ext cx="38100" cy="2286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hl-card4-icon|i=fas:user-shield" descr="tmpeses5g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76237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hl-card4-title"/>
          <p:cNvSpPr txBox="1"/>
          <p:nvPr/>
        </p:nvSpPr>
        <p:spPr>
          <a:xfrm>
            <a:off x="6953250" y="3743325"/>
            <a:ext cx="4476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8FAFC"/>
                </a:solidFill>
                <a:latin typeface="Liter"/>
                <a:ea typeface="alimamashuheiti"/>
              </a:rPr>
              <a:t>完整用户系统</a:t>
            </a:r>
            <a:endParaRPr sz="1500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sp>
        <p:nvSpPr>
          <p:cNvPr id="23" name="dsl:hl-card4-body"/>
          <p:cNvSpPr txBox="1"/>
          <p:nvPr/>
        </p:nvSpPr>
        <p:spPr>
          <a:xfrm>
            <a:off x="6524625" y="4191000"/>
            <a:ext cx="485775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JWT 认证 + 密码哈希存储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用户级数据隔离，权限精确控制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分享链接生成，支持公开只读访问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94A3B8"/>
                </a:solidFill>
                <a:latin typeface="Liter"/>
                <a:ea typeface="MiSans"/>
              </a:rPr>
              <a:t>数据导入导出（.notero 格式）</a:t>
            </a:r>
            <a:endParaRPr sz="1125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24" name="dsl:hl-pagenum|s=$caption"/>
          <p:cNvSpPr txBox="1"/>
          <p:nvPr/>
        </p:nvSpPr>
        <p:spPr>
          <a:xfrm>
            <a:off x="11239500" y="6477000"/>
            <a:ext cx="381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13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title"/>
          <p:cNvSpPr txBox="1"/>
          <p:nvPr/>
        </p:nvSpPr>
        <p:spPr>
          <a:xfrm>
            <a:off x="2286000" y="2286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600" b="1" noProof="1">
                <a:solidFill>
                  <a:srgbClr val="F8FAFC"/>
                </a:solidFill>
                <a:latin typeface="Liter"/>
                <a:ea typeface="alimamashuheiti"/>
              </a:rPr>
              <a:t>感谢观看</a:t>
            </a:r>
            <a:endParaRPr sz="3600" b="1" noProof="1">
              <a:solidFill>
                <a:srgbClr val="F8FAFC"/>
              </a:solidFill>
              <a:latin typeface="Liter"/>
              <a:ea typeface="alimamashuheiti"/>
            </a:endParaRPr>
          </a:p>
        </p:txBody>
      </p:sp>
      <p:cxnSp>
        <p:nvCxnSpPr>
          <p:cNvPr id="3" name="dsl:final-line"/>
          <p:cNvCxnSpPr/>
          <p:nvPr/>
        </p:nvCxnSpPr>
        <p:spPr>
          <a:xfrm>
            <a:off x="5143500" y="3143250"/>
            <a:ext cx="1905000" cy="0"/>
          </a:xfrm>
          <a:prstGeom prst="straightConnector1">
            <a:avLst/>
          </a:prstGeom>
          <a:ln w="25400">
            <a:solidFill>
              <a:srgbClr val="F59E0B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final-slogan"/>
          <p:cNvSpPr txBox="1"/>
          <p:nvPr/>
        </p:nvSpPr>
        <p:spPr>
          <a:xfrm>
            <a:off x="2286000" y="3333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94A3B8"/>
                </a:solidFill>
                <a:latin typeface="Liter"/>
                <a:ea typeface="MiSans"/>
              </a:rPr>
              <a:t>Not</a:t>
            </a:r>
            <a:r>
              <a:rPr lang="en-US" sz="1500" noProof="1">
                <a:solidFill>
                  <a:srgbClr val="94A3B8"/>
                </a:solidFill>
                <a:latin typeface="Liter"/>
                <a:ea typeface="MiSans"/>
              </a:rPr>
              <a:t>e</a:t>
            </a:r>
            <a:r>
              <a:rPr sz="1500" noProof="1">
                <a:solidFill>
                  <a:srgbClr val="94A3B8"/>
                </a:solidFill>
                <a:latin typeface="Liter"/>
                <a:ea typeface="MiSans"/>
              </a:rPr>
              <a:t>book — 用 AI 重新定义课堂笔记体验</a:t>
            </a:r>
            <a:endParaRPr sz="150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  <p:sp>
        <p:nvSpPr>
          <p:cNvPr id="5" name="dsl:final-tags"/>
          <p:cNvSpPr txBox="1"/>
          <p:nvPr/>
        </p:nvSpPr>
        <p:spPr>
          <a:xfrm>
            <a:off x="3238500" y="4000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4A3B8"/>
                </a:solidFill>
                <a:latin typeface="Liter"/>
                <a:ea typeface="MiSans"/>
              </a:rPr>
              <a:t>全栈独立开发作品  |  React 18  |  FastAPI  |  DeepSeek  |  FunASR</a:t>
            </a:r>
            <a:endParaRPr sz="1050" noProof="1">
              <a:solidFill>
                <a:srgbClr val="94A3B8"/>
              </a:solidFill>
              <a:latin typeface="Liter"/>
              <a:ea typeface="MiSan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3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4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5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6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7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8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9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0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1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2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3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4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5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6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7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8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19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0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1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2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3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4.xml><?xml version="1.0" encoding="utf-8"?>
<p:tagLst xmlns:p="http://schemas.openxmlformats.org/presentationml/2006/main">
  <p:tag name="KSO_WM_DIAGRAM_VIRTUALLY_FRAME" val="{&quot;height&quot;:407.25,&quot;left&quot;:45,&quot;top&quot;:82.5,&quot;width&quot;:870}"/>
</p:tagLst>
</file>

<file path=ppt/tags/tag25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ags/tag26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ags/tag27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ags/tag28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ags/tag29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ags/tag30.xml><?xml version="1.0" encoding="utf-8"?>
<p:tagLst xmlns:p="http://schemas.openxmlformats.org/presentationml/2006/main">
  <p:tag name="KSO_WM_DIAGRAM_VIRTUALLY_FRAME" val="{&quot;height&quot;:168.2,&quot;left&quot;:45,&quot;top&quot;:82.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item1.xml><?xml version="1.0" encoding="utf-8"?>
<DslMetadata>
  <Colors>
    <Color name="primary" value="#0F172A"/>
    <Color name="secondary" value="#334155"/>
    <Color name="accent" value="#F59E0B"/>
    <Color name="accent_green" value="#10B981"/>
    <Color name="accent_blue" value="#3B82F6"/>
    <Color name="background" value="#0F172A"/>
    <Color name="text" value="#F8FAFC"/>
    <Color name="text_secondary" value="#94A3B8"/>
    <Color name="card_bg" value="#1E293B"/>
    <Color name="border" value="#334155"/>
  </Colors>
  <TextStyles>
    <TextStyle name="title" font_size="48.0" color="$text" font_family="Liter, alimamashuheiti" letter_spacing="2.0"/>
    <TextStyle name="subtitle" font_size="22.0" color="$text_secondary" font_family="Liter, MiSans" line_height="1.5"/>
    <TextStyle name="heading" font_size="28.0" color="$text" font_family="Liter, alimamashuheiti"/>
    <TextStyle name="body" font_size="18.0" color="$text" font_family="Liter, MiSans" line_height="1.6"/>
    <TextStyle name="caption" font_size="14.0" color="$text_secondary" font_family="Liter, MiSans"/>
    <TextStyle name="accent_text" font_size="20.0" color="$accent" font_family="Liter, alimamashuheiti"/>
  </TextStyles>
  <TableStyles>
    <TableStyle name="default" fontSize="16.0" fontFamily="Liter, MiSans" headerFill="$card_bg" headerColor="$text" headerBold="true" bodyFill="$primary,$card_bg" bodyColor="$text" firstColumnBold="false">
      <Border style="solid" width="1.0" color="$border"/>
    </TableStyle>
  </TableStyles>
</DslMetadata>
</file>

<file path=customXml/itemProps31.xml><?xml version="1.0" encoding="utf-8"?>
<ds:datastoreItem xmlns:ds="http://schemas.openxmlformats.org/officeDocument/2006/customXml" ds:itemID="{5D3B622A-4806-47DC-A84D-E7A765D4FD7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3640</Words>
  <Application>WPS 演示</Application>
  <PresentationFormat>On-screen Show (4:3)</PresentationFormat>
  <Paragraphs>323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Liter</vt:lpstr>
      <vt:lpstr>JetBrains Mono</vt:lpstr>
      <vt:lpstr>alimamashuheiti</vt:lpstr>
      <vt:lpstr>MiSans</vt:lpstr>
      <vt:lpstr>MiSans Semibold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张少楠</cp:lastModifiedBy>
  <cp:revision>2</cp:revision>
  <dcterms:created xsi:type="dcterms:W3CDTF">2013-01-27T09:14:00Z</dcterms:created>
  <dcterms:modified xsi:type="dcterms:W3CDTF">2026-06-14T06:55:31Z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C15BC740EF8342138A2B69A36C7DB8CC_12</vt:lpwstr>
  </property>
</Properties>
</file>